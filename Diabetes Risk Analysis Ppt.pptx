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1850" y="367478"/>
            <a:ext cx="1113258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lang="en-US" sz="3500" dirty="0"/>
              <a:t>Name : Tahezeeb Jaweed Peerji</a:t>
            </a:r>
          </a:p>
          <a:p>
            <a:pPr>
              <a:defRPr sz="4200" b="1">
                <a:solidFill>
                  <a:srgbClr val="FFFFFF"/>
                </a:solidFill>
              </a:defRPr>
            </a:pPr>
            <a:r>
              <a:rPr lang="en-US" sz="3500" dirty="0"/>
              <a:t>Project Title : Diabetes Risk Analysis</a:t>
            </a:r>
          </a:p>
          <a:p>
            <a:pPr>
              <a:defRPr sz="4200" b="1">
                <a:solidFill>
                  <a:srgbClr val="FFFFFF"/>
                </a:solidFill>
              </a:defRPr>
            </a:pPr>
            <a:r>
              <a:rPr lang="en-US" sz="3500" dirty="0"/>
              <a:t>Domain : AI/ML</a:t>
            </a:r>
          </a:p>
          <a:p>
            <a:pPr>
              <a:defRPr sz="4200" b="1">
                <a:solidFill>
                  <a:srgbClr val="FFFFFF"/>
                </a:solidFill>
              </a:defRPr>
            </a:pPr>
            <a:r>
              <a:rPr lang="en-US" sz="3500" dirty="0"/>
              <a:t>Week : 2</a:t>
            </a:r>
          </a:p>
          <a:p>
            <a:pPr>
              <a:defRPr sz="4200" b="1">
                <a:solidFill>
                  <a:srgbClr val="FFFFFF"/>
                </a:solidFill>
              </a:defRPr>
            </a:pPr>
            <a:endParaRPr lang="en-US" sz="3500" dirty="0"/>
          </a:p>
          <a:p>
            <a:pPr>
              <a:defRPr sz="4200" b="1">
                <a:solidFill>
                  <a:srgbClr val="FFFFFF"/>
                </a:solidFill>
              </a:defRPr>
            </a:pPr>
            <a:r>
              <a:rPr lang="en-US" sz="3500" b="1" dirty="0"/>
              <a:t>        Pima Indians Diabetes Dataset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Diabetes Risk Analysis  •  Project Presentation  • 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62071-C0D5-08E2-70C6-08620B2DC309}"/>
              </a:ext>
            </a:extLst>
          </p:cNvPr>
          <p:cNvSpPr txBox="1"/>
          <p:nvPr/>
        </p:nvSpPr>
        <p:spPr>
          <a:xfrm>
            <a:off x="960459" y="3881273"/>
            <a:ext cx="108441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lang="en-US" sz="2000" dirty="0">
                <a:latin typeface="Aptos" panose="020B0004020202020204" pitchFamily="34" charset="0"/>
                <a:cs typeface="Arial" panose="020B0604020202020204" pitchFamily="34" charset="0"/>
              </a:rPr>
              <a:t>Pregnancies | Glucose | Blood Pressure | Skin Thickness | Insulin | BMI</a:t>
            </a:r>
          </a:p>
          <a:p>
            <a:pPr>
              <a:defRPr sz="4200" b="1">
                <a:solidFill>
                  <a:srgbClr val="FFFFFF"/>
                </a:solidFill>
              </a:defRPr>
            </a:pPr>
            <a:endParaRPr lang="en-US" sz="2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defRPr sz="4200" b="1">
                <a:solidFill>
                  <a:srgbClr val="FFFFFF"/>
                </a:solidFill>
              </a:defRPr>
            </a:pPr>
            <a:r>
              <a:rPr lang="en-US" sz="2000" dirty="0">
                <a:latin typeface="Aptos" panose="020B0004020202020204" pitchFamily="34" charset="0"/>
                <a:cs typeface="Arial" panose="020B0604020202020204" pitchFamily="34" charset="0"/>
              </a:rPr>
              <a:t>                </a:t>
            </a:r>
            <a:r>
              <a:rPr lang="en-US" sz="2000" dirty="0"/>
              <a:t>Python • Pandas • Seaborn • Scikit-learn</a:t>
            </a:r>
          </a:p>
          <a:p>
            <a:pPr>
              <a:defRPr sz="4200" b="1">
                <a:solidFill>
                  <a:srgbClr val="FFFFFF"/>
                </a:solidFill>
              </a:defRPr>
            </a:pPr>
            <a:endParaRPr lang="en-US" sz="20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4008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b="1" dirty="0"/>
              <a:t>Loads and inspects a diabetes dataset with 768 records and 9 columns.</a:t>
            </a:r>
          </a:p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• Checks missing values, duplicate rows, and medically implausible zero values.</a:t>
            </a:r>
          </a:p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• Cleans selected numeric features by replacing zero values with </a:t>
            </a:r>
            <a:r>
              <a:rPr b="1" dirty="0" err="1"/>
              <a:t>NaN</a:t>
            </a:r>
            <a:r>
              <a:rPr b="1" dirty="0"/>
              <a:t> and imputing the median.</a:t>
            </a:r>
          </a:p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• Explores the target variable and visualizes relationships among key features.</a:t>
            </a:r>
          </a:p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• Uses Python, Pandas, NumPy, Matplotlib, Seaborn, and Scikit-learn imports.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41732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43800" y="14173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44968" y="158191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4968" y="1947672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768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141732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55480" y="1417320"/>
            <a:ext cx="73152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56648" y="158191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6648" y="1947672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88036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2880360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44968" y="304495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No Diabetes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3410712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65.1%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288036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55480" y="2880360"/>
            <a:ext cx="73152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56648" y="304495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Diabetes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3410712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34.9%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Diabetes Risk Analysis  •  Project Presentation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Dataset &amp; Variables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435607"/>
            <a:ext cx="1491114" cy="469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Pregnancies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b="1" dirty="0"/>
              <a:t>Number of pregnancies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53712" y="1435607"/>
            <a:ext cx="923651" cy="469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Glucose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b="1" dirty="0"/>
              <a:t>Glucose 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325880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8472" y="1435607"/>
            <a:ext cx="1299587" cy="469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Blood</a:t>
            </a:r>
            <a:r>
              <a:rPr lang="en-US" dirty="0"/>
              <a:t> </a:t>
            </a:r>
            <a:r>
              <a:rPr dirty="0"/>
              <a:t>Pressure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b="1" dirty="0"/>
              <a:t>Blood pressure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51760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2761488"/>
            <a:ext cx="1258678" cy="469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Skin</a:t>
            </a:r>
            <a:r>
              <a:rPr lang="en-US" dirty="0"/>
              <a:t> </a:t>
            </a:r>
            <a:r>
              <a:rPr dirty="0"/>
              <a:t>Thickness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b="1" dirty="0"/>
              <a:t>Skin thickness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651760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2761488"/>
            <a:ext cx="854721" cy="469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Insulin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b="1" dirty="0"/>
              <a:t>Insulin level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651760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2" y="2761488"/>
            <a:ext cx="1120820" cy="469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BMI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b="1" dirty="0"/>
              <a:t>Body mass 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977639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087368"/>
            <a:ext cx="2218621" cy="469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Diabetes</a:t>
            </a:r>
            <a:r>
              <a:rPr lang="en-US" dirty="0"/>
              <a:t> </a:t>
            </a:r>
            <a:r>
              <a:rPr dirty="0"/>
              <a:t>Pedigree</a:t>
            </a:r>
            <a:r>
              <a:rPr lang="en-US" dirty="0"/>
              <a:t> </a:t>
            </a:r>
            <a:r>
              <a:rPr dirty="0"/>
              <a:t>Function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b="1" dirty="0"/>
              <a:t>Diabetes family-history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77639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4087368"/>
            <a:ext cx="978153" cy="469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Age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b="1" dirty="0"/>
              <a:t>Age of patient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977639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2" y="4087368"/>
            <a:ext cx="1819729" cy="469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Outcome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b="1" dirty="0"/>
              <a:t>0 = No Diabetes, 1 = Diabetes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Diabetes Risk Analysis  •  Project Presentation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Data Quality &amp;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585216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b="1" dirty="0"/>
              <a:t>Missing-value check: all 9 columns initially report 0 missing values.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 b="1" dirty="0"/>
              <a:t>• Duplicate check: 0 duplicate rows were found.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 b="1" dirty="0"/>
              <a:t>• The notebook identifies zero values in Glucose, </a:t>
            </a:r>
            <a:r>
              <a:rPr b="1" dirty="0" err="1"/>
              <a:t>BloodPressure</a:t>
            </a:r>
            <a:r>
              <a:rPr b="1" dirty="0"/>
              <a:t>, </a:t>
            </a:r>
            <a:r>
              <a:rPr b="1" dirty="0" err="1"/>
              <a:t>SkinThickness</a:t>
            </a:r>
            <a:r>
              <a:rPr b="1" dirty="0"/>
              <a:t>, Insulin and BMI as invalid for analysis.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 b="1" dirty="0"/>
              <a:t>• Those zeros are replaced with </a:t>
            </a:r>
            <a:r>
              <a:rPr b="1" dirty="0" err="1"/>
              <a:t>NaN</a:t>
            </a:r>
            <a:r>
              <a:rPr b="1" dirty="0"/>
              <a:t>, then filled using each column's median.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 b="1" dirty="0"/>
              <a:t>• After cleaning, the notebook reports 0 missing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325880"/>
            <a:ext cx="4892040" cy="41605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917269" y="1879599"/>
            <a:ext cx="3801532" cy="20005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rPr b="1" dirty="0" err="1">
                <a:latin typeface="Arial Black" panose="020B0A04020102020204" pitchFamily="34" charset="0"/>
              </a:rPr>
              <a:t>zero_columns</a:t>
            </a:r>
            <a:r>
              <a:rPr b="1" dirty="0">
                <a:latin typeface="Arial Black" panose="020B0A04020102020204" pitchFamily="34" charset="0"/>
              </a:rPr>
              <a:t> = [</a:t>
            </a: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    "Glucose", "</a:t>
            </a:r>
            <a:r>
              <a:rPr b="1" dirty="0" err="1">
                <a:latin typeface="Arial Black" panose="020B0A04020102020204" pitchFamily="34" charset="0"/>
              </a:rPr>
              <a:t>BloodPressure</a:t>
            </a:r>
            <a:r>
              <a:rPr b="1" dirty="0">
                <a:latin typeface="Arial Black" panose="020B0A04020102020204" pitchFamily="34" charset="0"/>
              </a:rPr>
              <a:t>",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b="1" dirty="0">
                <a:latin typeface="Arial Black" panose="020B0A04020102020204" pitchFamily="34" charset="0"/>
              </a:rPr>
              <a:t>"</a:t>
            </a:r>
            <a:r>
              <a:rPr b="1" dirty="0" err="1">
                <a:latin typeface="Arial Black" panose="020B0A04020102020204" pitchFamily="34" charset="0"/>
              </a:rPr>
              <a:t>SkinThickness</a:t>
            </a:r>
            <a:r>
              <a:rPr b="1" dirty="0">
                <a:latin typeface="Arial Black" panose="020B0A04020102020204" pitchFamily="34" charset="0"/>
              </a:rPr>
              <a:t>", "Insulin", "BMI"]</a:t>
            </a:r>
            <a:br>
              <a:rPr b="1" dirty="0">
                <a:latin typeface="Arial Black" panose="020B0A04020102020204" pitchFamily="34" charset="0"/>
              </a:rPr>
            </a:br>
            <a:br>
              <a:rPr b="1" dirty="0">
                <a:latin typeface="Arial Black" panose="020B0A04020102020204" pitchFamily="34" charset="0"/>
              </a:rPr>
            </a:br>
            <a:r>
              <a:rPr b="1" dirty="0" err="1">
                <a:latin typeface="Arial Black" panose="020B0A04020102020204" pitchFamily="34" charset="0"/>
              </a:rPr>
              <a:t>df</a:t>
            </a:r>
            <a:r>
              <a:rPr b="1" dirty="0">
                <a:latin typeface="Arial Black" panose="020B0A04020102020204" pitchFamily="34" charset="0"/>
              </a:rPr>
              <a:t>[</a:t>
            </a:r>
            <a:r>
              <a:rPr b="1" dirty="0" err="1">
                <a:latin typeface="Arial Black" panose="020B0A04020102020204" pitchFamily="34" charset="0"/>
              </a:rPr>
              <a:t>zero_columns</a:t>
            </a:r>
            <a:r>
              <a:rPr b="1" dirty="0">
                <a:latin typeface="Arial Black" panose="020B0A04020102020204" pitchFamily="34" charset="0"/>
              </a:rPr>
              <a:t>] = </a:t>
            </a:r>
            <a:r>
              <a:rPr b="1" dirty="0" err="1">
                <a:latin typeface="Arial Black" panose="020B0A04020102020204" pitchFamily="34" charset="0"/>
              </a:rPr>
              <a:t>df</a:t>
            </a:r>
            <a:r>
              <a:rPr b="1" dirty="0">
                <a:latin typeface="Arial Black" panose="020B0A04020102020204" pitchFamily="34" charset="0"/>
              </a:rPr>
              <a:t>[</a:t>
            </a:r>
            <a:r>
              <a:rPr b="1" dirty="0" err="1">
                <a:latin typeface="Arial Black" panose="020B0A04020102020204" pitchFamily="34" charset="0"/>
              </a:rPr>
              <a:t>zero_columns</a:t>
            </a:r>
            <a:r>
              <a:rPr b="1" dirty="0">
                <a:latin typeface="Arial Black" panose="020B0A04020102020204" pitchFamily="34" charset="0"/>
              </a:rPr>
              <a:t>].replace(0, </a:t>
            </a:r>
            <a:r>
              <a:rPr b="1" dirty="0" err="1">
                <a:latin typeface="Arial Black" panose="020B0A04020102020204" pitchFamily="34" charset="0"/>
              </a:rPr>
              <a:t>np.nan</a:t>
            </a:r>
            <a:r>
              <a:rPr b="1" dirty="0">
                <a:latin typeface="Arial Black" panose="020B0A04020102020204" pitchFamily="34" charset="0"/>
              </a:rPr>
              <a:t>)</a:t>
            </a:r>
            <a:br>
              <a:rPr b="1" dirty="0">
                <a:latin typeface="Arial Black" panose="020B0A04020102020204" pitchFamily="34" charset="0"/>
              </a:rPr>
            </a:b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for column in </a:t>
            </a:r>
            <a:r>
              <a:rPr b="1" dirty="0" err="1">
                <a:latin typeface="Arial Black" panose="020B0A04020102020204" pitchFamily="34" charset="0"/>
              </a:rPr>
              <a:t>zero_columns</a:t>
            </a:r>
            <a:r>
              <a:rPr b="1" dirty="0">
                <a:latin typeface="Arial Black" panose="020B0A04020102020204" pitchFamily="34" charset="0"/>
              </a:rPr>
              <a:t>:</a:t>
            </a:r>
            <a:br>
              <a:rPr b="1" dirty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>    </a:t>
            </a:r>
            <a:r>
              <a:rPr b="1" dirty="0" err="1">
                <a:latin typeface="Arial Black" panose="020B0A04020102020204" pitchFamily="34" charset="0"/>
              </a:rPr>
              <a:t>df</a:t>
            </a:r>
            <a:r>
              <a:rPr b="1" dirty="0">
                <a:latin typeface="Arial Black" panose="020B0A04020102020204" pitchFamily="34" charset="0"/>
              </a:rPr>
              <a:t>[column]</a:t>
            </a:r>
            <a:r>
              <a:rPr lang="en-US" b="1" dirty="0">
                <a:latin typeface="Arial Black" panose="020B0A04020102020204" pitchFamily="34" charset="0"/>
              </a:rPr>
              <a:t> = </a:t>
            </a:r>
            <a:r>
              <a:rPr b="1" dirty="0" err="1">
                <a:latin typeface="Arial Black" panose="020B0A04020102020204" pitchFamily="34" charset="0"/>
              </a:rPr>
              <a:t>df</a:t>
            </a:r>
            <a:r>
              <a:rPr b="1" dirty="0">
                <a:latin typeface="Arial Black" panose="020B0A04020102020204" pitchFamily="34" charset="0"/>
              </a:rPr>
              <a:t>[column].</a:t>
            </a:r>
            <a:r>
              <a:rPr b="1" dirty="0" err="1">
                <a:latin typeface="Arial Black" panose="020B0A04020102020204" pitchFamily="34" charset="0"/>
              </a:rPr>
              <a:t>fillna</a:t>
            </a:r>
            <a:r>
              <a:rPr b="1" dirty="0">
                <a:latin typeface="Arial Black" panose="020B0A04020102020204" pitchFamily="34" charset="0"/>
              </a:rPr>
              <a:t>(</a:t>
            </a:r>
            <a:r>
              <a:rPr b="1" dirty="0" err="1">
                <a:latin typeface="Arial Black" panose="020B0A04020102020204" pitchFamily="34" charset="0"/>
              </a:rPr>
              <a:t>df</a:t>
            </a:r>
            <a:r>
              <a:rPr b="1" dirty="0">
                <a:latin typeface="Arial Black" panose="020B0A04020102020204" pitchFamily="34" charset="0"/>
              </a:rPr>
              <a:t>[column].median())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Diabetes Risk Analysis  •  Project Presentation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Target Variable Distribution</a:t>
            </a:r>
          </a:p>
        </p:txBody>
      </p:sp>
      <p:pic>
        <p:nvPicPr>
          <p:cNvPr id="4" name="Picture 3" descr="diabetes_plo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166360" cy="3923073"/>
          </a:xfrm>
          <a:prstGeom prst="rect">
            <a:avLst/>
          </a:prstGeom>
        </p:spPr>
      </p:pic>
      <p:pic>
        <p:nvPicPr>
          <p:cNvPr id="5" name="Picture 4" descr="diabetes_plo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166360" cy="51752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54406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44068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560527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Outcome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5737860"/>
            <a:ext cx="237744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rPr dirty="0"/>
              <a:t>500 patients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54406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86200" y="544068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7368" y="560527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Outcome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5656" y="5742433"/>
            <a:ext cx="237744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rPr dirty="0"/>
              <a:t>268 patients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54406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0" y="5440680"/>
            <a:ext cx="73152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59168" y="560527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Class 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5746902"/>
            <a:ext cx="237744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65.1% / 34.9%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Diabetes Risk Analysis  •  Project Presentation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Correlation Analysis</a:t>
            </a:r>
          </a:p>
        </p:txBody>
      </p:sp>
      <p:pic>
        <p:nvPicPr>
          <p:cNvPr id="4" name="Picture 3" descr="diabetes_plo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867" y="737476"/>
            <a:ext cx="6578600" cy="46940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28800" y="5486400"/>
            <a:ext cx="8503920" cy="6400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93392" y="5596128"/>
            <a:ext cx="817473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rPr b="1" dirty="0" err="1">
                <a:latin typeface="Arial Black" panose="020B0A04020102020204" pitchFamily="34" charset="0"/>
              </a:rPr>
              <a:t>sns.heatmap</a:t>
            </a:r>
            <a:r>
              <a:rPr b="1" dirty="0">
                <a:latin typeface="Arial Black" panose="020B0A04020102020204" pitchFamily="34" charset="0"/>
              </a:rPr>
              <a:t>(</a:t>
            </a:r>
            <a:r>
              <a:rPr b="1" dirty="0" err="1">
                <a:latin typeface="Arial Black" panose="020B0A04020102020204" pitchFamily="34" charset="0"/>
              </a:rPr>
              <a:t>df.corr</a:t>
            </a:r>
            <a:r>
              <a:rPr b="1" dirty="0">
                <a:latin typeface="Arial Black" panose="020B0A04020102020204" pitchFamily="34" charset="0"/>
              </a:rPr>
              <a:t>(), </a:t>
            </a:r>
            <a:r>
              <a:rPr b="1" dirty="0" err="1">
                <a:latin typeface="Arial Black" panose="020B0A04020102020204" pitchFamily="34" charset="0"/>
              </a:rPr>
              <a:t>annot</a:t>
            </a:r>
            <a:r>
              <a:rPr b="1" dirty="0">
                <a:latin typeface="Arial Black" panose="020B0A04020102020204" pitchFamily="34" charset="0"/>
              </a:rPr>
              <a:t>=True, </a:t>
            </a:r>
            <a:r>
              <a:rPr b="1" dirty="0" err="1">
                <a:latin typeface="Arial Black" panose="020B0A04020102020204" pitchFamily="34" charset="0"/>
              </a:rPr>
              <a:t>fmt</a:t>
            </a:r>
            <a:r>
              <a:rPr b="1" dirty="0">
                <a:latin typeface="Arial Black" panose="020B0A04020102020204" pitchFamily="34" charset="0"/>
              </a:rPr>
              <a:t>=".2f", </a:t>
            </a:r>
            <a:r>
              <a:rPr b="1" dirty="0" err="1">
                <a:latin typeface="Arial Black" panose="020B0A04020102020204" pitchFamily="34" charset="0"/>
              </a:rPr>
              <a:t>cmap</a:t>
            </a:r>
            <a:r>
              <a:rPr b="1" dirty="0">
                <a:latin typeface="Arial Black" panose="020B0A04020102020204" pitchFamily="34" charset="0"/>
              </a:rPr>
              <a:t>="</a:t>
            </a:r>
            <a:r>
              <a:rPr b="1" dirty="0" err="1">
                <a:latin typeface="Arial Black" panose="020B0A04020102020204" pitchFamily="34" charset="0"/>
              </a:rPr>
              <a:t>coolwarm</a:t>
            </a:r>
            <a:r>
              <a:rPr b="1" dirty="0">
                <a:latin typeface="Arial Black" panose="020B0A04020102020204" pitchFamily="34" charset="0"/>
              </a:rPr>
              <a:t>")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Diabetes Risk Analysis  •  Project Presentation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Feature Analysis</a:t>
            </a:r>
          </a:p>
        </p:txBody>
      </p:sp>
      <p:pic>
        <p:nvPicPr>
          <p:cNvPr id="4" name="Picture 3" descr="diabetes_plo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212080" cy="2240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26440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Glucose</a:t>
            </a:r>
          </a:p>
        </p:txBody>
      </p:sp>
      <p:pic>
        <p:nvPicPr>
          <p:cNvPr id="6" name="Picture 5" descr="diabetes_plo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212080" cy="2240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326440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BMI</a:t>
            </a:r>
          </a:p>
        </p:txBody>
      </p:sp>
      <p:pic>
        <p:nvPicPr>
          <p:cNvPr id="8" name="Picture 7" descr="diabetes_plot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03320"/>
            <a:ext cx="5212080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3328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Age</a:t>
            </a:r>
          </a:p>
        </p:txBody>
      </p:sp>
      <p:pic>
        <p:nvPicPr>
          <p:cNvPr id="10" name="Picture 9" descr="diabetes_plot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703320"/>
            <a:ext cx="5212080" cy="2240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573328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Blood Pressure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Diabetes Risk Analysis  •  Project Presentation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Visualization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400800" cy="4526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7138" y="1767615"/>
            <a:ext cx="5776129" cy="22006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rPr dirty="0">
                <a:latin typeface="Arial Black" panose="020B0A04020102020204" pitchFamily="34" charset="0"/>
              </a:rPr>
              <a:t># Glucose distribution by diabetes outcome</a:t>
            </a:r>
            <a:br>
              <a:rPr dirty="0">
                <a:latin typeface="Arial Black" panose="020B0A04020102020204" pitchFamily="34" charset="0"/>
              </a:rPr>
            </a:br>
            <a:r>
              <a:rPr dirty="0" err="1">
                <a:latin typeface="Arial Black" panose="020B0A04020102020204" pitchFamily="34" charset="0"/>
              </a:rPr>
              <a:t>plt.figure</a:t>
            </a:r>
            <a:r>
              <a:rPr dirty="0">
                <a:latin typeface="Arial Black" panose="020B0A04020102020204" pitchFamily="34" charset="0"/>
              </a:rPr>
              <a:t>(</a:t>
            </a:r>
            <a:r>
              <a:rPr dirty="0" err="1">
                <a:latin typeface="Arial Black" panose="020B0A04020102020204" pitchFamily="34" charset="0"/>
              </a:rPr>
              <a:t>figsize</a:t>
            </a:r>
            <a:r>
              <a:rPr dirty="0">
                <a:latin typeface="Arial Black" panose="020B0A04020102020204" pitchFamily="34" charset="0"/>
              </a:rPr>
              <a:t>=(9, 6))</a:t>
            </a:r>
            <a:br>
              <a:rPr dirty="0">
                <a:latin typeface="Arial Black" panose="020B0A04020102020204" pitchFamily="34" charset="0"/>
              </a:rPr>
            </a:br>
            <a:r>
              <a:rPr dirty="0" err="1">
                <a:latin typeface="Arial Black" panose="020B0A04020102020204" pitchFamily="34" charset="0"/>
              </a:rPr>
              <a:t>sns.histplot</a:t>
            </a:r>
            <a:r>
              <a:rPr dirty="0">
                <a:latin typeface="Arial Black" panose="020B0A04020102020204" pitchFamily="34" charset="0"/>
              </a:rPr>
              <a:t>(data=</a:t>
            </a:r>
            <a:r>
              <a:rPr dirty="0" err="1">
                <a:latin typeface="Arial Black" panose="020B0A04020102020204" pitchFamily="34" charset="0"/>
              </a:rPr>
              <a:t>df,x</a:t>
            </a:r>
            <a:r>
              <a:rPr dirty="0">
                <a:latin typeface="Arial Black" panose="020B0A04020102020204" pitchFamily="34" charset="0"/>
              </a:rPr>
              <a:t>="</a:t>
            </a:r>
            <a:r>
              <a:rPr dirty="0" err="1">
                <a:latin typeface="Arial Black" panose="020B0A04020102020204" pitchFamily="34" charset="0"/>
              </a:rPr>
              <a:t>Glucose",hue</a:t>
            </a:r>
            <a:r>
              <a:rPr dirty="0">
                <a:latin typeface="Arial Black" panose="020B0A04020102020204" pitchFamily="34" charset="0"/>
              </a:rPr>
              <a:t>="Outcome",</a:t>
            </a:r>
            <a:r>
              <a:rPr dirty="0" err="1">
                <a:latin typeface="Arial Black" panose="020B0A04020102020204" pitchFamily="34" charset="0"/>
              </a:rPr>
              <a:t>kde</a:t>
            </a:r>
            <a:r>
              <a:rPr dirty="0">
                <a:latin typeface="Arial Black" panose="020B0A04020102020204" pitchFamily="34" charset="0"/>
              </a:rPr>
              <a:t>=True,</a:t>
            </a:r>
            <a:endParaRPr lang="en-US" dirty="0">
              <a:latin typeface="Arial Black" panose="020B0A04020102020204" pitchFamily="34" charset="0"/>
            </a:endParaRP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rPr dirty="0">
                <a:latin typeface="Arial Black" panose="020B0A04020102020204" pitchFamily="34" charset="0"/>
              </a:rPr>
              <a:t>bins=30)</a:t>
            </a:r>
            <a:br>
              <a:rPr dirty="0">
                <a:latin typeface="Arial Black" panose="020B0A04020102020204" pitchFamily="34" charset="0"/>
              </a:rPr>
            </a:br>
            <a:r>
              <a:rPr dirty="0" err="1">
                <a:latin typeface="Arial Black" panose="020B0A04020102020204" pitchFamily="34" charset="0"/>
              </a:rPr>
              <a:t>plt.title</a:t>
            </a:r>
            <a:r>
              <a:rPr dirty="0">
                <a:latin typeface="Arial Black" panose="020B0A04020102020204" pitchFamily="34" charset="0"/>
              </a:rPr>
              <a:t>("Glucose Distribution by Diabetes Outcome")</a:t>
            </a:r>
            <a:br>
              <a:rPr dirty="0">
                <a:latin typeface="Arial Black" panose="020B0A04020102020204" pitchFamily="34" charset="0"/>
              </a:rPr>
            </a:br>
            <a:r>
              <a:rPr dirty="0" err="1">
                <a:latin typeface="Arial Black" panose="020B0A04020102020204" pitchFamily="34" charset="0"/>
              </a:rPr>
              <a:t>plt.xlabel</a:t>
            </a:r>
            <a:r>
              <a:rPr dirty="0">
                <a:latin typeface="Arial Black" panose="020B0A04020102020204" pitchFamily="34" charset="0"/>
              </a:rPr>
              <a:t>("Glucose")</a:t>
            </a:r>
            <a:br>
              <a:rPr dirty="0">
                <a:latin typeface="Arial Black" panose="020B0A04020102020204" pitchFamily="34" charset="0"/>
              </a:rPr>
            </a:br>
            <a:r>
              <a:rPr dirty="0" err="1">
                <a:latin typeface="Arial Black" panose="020B0A04020102020204" pitchFamily="34" charset="0"/>
              </a:rPr>
              <a:t>plt.ylabel</a:t>
            </a:r>
            <a:r>
              <a:rPr dirty="0">
                <a:latin typeface="Arial Black" panose="020B0A04020102020204" pitchFamily="34" charset="0"/>
              </a:rPr>
              <a:t>("Frequency")</a:t>
            </a:r>
            <a:br>
              <a:rPr dirty="0">
                <a:latin typeface="Arial Black" panose="020B0A04020102020204" pitchFamily="34" charset="0"/>
              </a:rPr>
            </a:br>
            <a:r>
              <a:rPr dirty="0" err="1">
                <a:latin typeface="Arial Black" panose="020B0A04020102020204" pitchFamily="34" charset="0"/>
              </a:rPr>
              <a:t>plt.show</a:t>
            </a:r>
            <a:r>
              <a:rPr dirty="0">
                <a:latin typeface="Arial Black" panose="020B0A04020102020204" pitchFamily="34" charset="0"/>
              </a:rPr>
              <a:t>()</a:t>
            </a:r>
            <a:br>
              <a:rPr dirty="0">
                <a:latin typeface="Arial Black" panose="020B0A04020102020204" pitchFamily="34" charset="0"/>
              </a:rPr>
            </a:br>
            <a:br>
              <a:rPr dirty="0">
                <a:latin typeface="Arial Black" panose="020B0A04020102020204" pitchFamily="34" charset="0"/>
              </a:rPr>
            </a:br>
            <a:r>
              <a:rPr dirty="0">
                <a:latin typeface="Arial Black" panose="020B0A04020102020204" pitchFamily="34" charset="0"/>
              </a:rPr>
              <a:t># Similar blocks are used for BMI,</a:t>
            </a:r>
            <a:br>
              <a:rPr dirty="0">
                <a:latin typeface="Arial Black" panose="020B0A04020102020204" pitchFamily="34" charset="0"/>
              </a:rPr>
            </a:br>
            <a:r>
              <a:rPr dirty="0">
                <a:latin typeface="Arial Black" panose="020B0A04020102020204" pitchFamily="34" charset="0"/>
              </a:rPr>
              <a:t># Age and </a:t>
            </a:r>
            <a:r>
              <a:rPr dirty="0" err="1">
                <a:latin typeface="Arial Black" panose="020B0A04020102020204" pitchFamily="34" charset="0"/>
              </a:rPr>
              <a:t>BloodPressure</a:t>
            </a:r>
            <a:r>
              <a:rPr dirty="0">
                <a:latin typeface="Arial Black" panose="020B0A04020102020204" pitchFamily="34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417320"/>
            <a:ext cx="41148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b="1" dirty="0"/>
              <a:t>Histograms compare distributions for Outcome 0 and Outcome 1.</a:t>
            </a:r>
          </a:p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</a:defRPr>
            </a:pPr>
            <a:r>
              <a:rPr b="1" dirty="0"/>
              <a:t>• KDE curves provide a smoothed view of the distributions.</a:t>
            </a:r>
          </a:p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</a:defRPr>
            </a:pPr>
            <a:r>
              <a:rPr b="1" dirty="0"/>
              <a:t>• The same approach is repeated for BMI, Age and </a:t>
            </a:r>
            <a:r>
              <a:rPr b="1" dirty="0" err="1"/>
              <a:t>BloodPressure</a:t>
            </a:r>
            <a:r>
              <a:rPr b="1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Diabetes Risk Analysis  •  Project Presentation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Box-Plot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400800" cy="4526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4984" y="1554480"/>
            <a:ext cx="6071616" cy="2585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E2E8F0"/>
                </a:solidFill>
                <a:latin typeface="Consolas"/>
              </a:defRPr>
            </a:pPr>
            <a:r>
              <a:rPr sz="1200" b="1" dirty="0" err="1">
                <a:latin typeface="Arial Black" panose="020B0A04020102020204" pitchFamily="34" charset="0"/>
              </a:rPr>
              <a:t>plt.figure</a:t>
            </a:r>
            <a:r>
              <a:rPr sz="1200" b="1" dirty="0">
                <a:latin typeface="Arial Black" panose="020B0A04020102020204" pitchFamily="34" charset="0"/>
              </a:rPr>
              <a:t>(</a:t>
            </a:r>
            <a:r>
              <a:rPr sz="1200" b="1" dirty="0" err="1">
                <a:latin typeface="Arial Black" panose="020B0A04020102020204" pitchFamily="34" charset="0"/>
              </a:rPr>
              <a:t>figsize</a:t>
            </a:r>
            <a:r>
              <a:rPr sz="1200" b="1" dirty="0">
                <a:latin typeface="Arial Black" panose="020B0A04020102020204" pitchFamily="34" charset="0"/>
              </a:rPr>
              <a:t>=(8, 6))</a:t>
            </a:r>
            <a:br>
              <a:rPr sz="1200" b="1" dirty="0">
                <a:latin typeface="Arial Black" panose="020B0A04020102020204" pitchFamily="34" charset="0"/>
              </a:rPr>
            </a:br>
            <a:r>
              <a:rPr sz="1200" b="1" dirty="0" err="1">
                <a:latin typeface="Arial Black" panose="020B0A04020102020204" pitchFamily="34" charset="0"/>
              </a:rPr>
              <a:t>sns.boxplot</a:t>
            </a:r>
            <a:r>
              <a:rPr sz="1200" b="1" dirty="0">
                <a:latin typeface="Arial Black" panose="020B0A04020102020204" pitchFamily="34" charset="0"/>
              </a:rPr>
              <a:t>(data=</a:t>
            </a:r>
            <a:r>
              <a:rPr sz="1200" b="1" dirty="0" err="1">
                <a:latin typeface="Arial Black" panose="020B0A04020102020204" pitchFamily="34" charset="0"/>
              </a:rPr>
              <a:t>df</a:t>
            </a:r>
            <a:r>
              <a:rPr sz="1200" b="1" dirty="0">
                <a:latin typeface="Arial Black" panose="020B0A04020102020204" pitchFamily="34" charset="0"/>
              </a:rPr>
              <a:t>, x="Outcome", y="Glucose")</a:t>
            </a:r>
            <a:br>
              <a:rPr sz="1200" b="1" dirty="0">
                <a:latin typeface="Arial Black" panose="020B0A04020102020204" pitchFamily="34" charset="0"/>
              </a:rPr>
            </a:br>
            <a:r>
              <a:rPr sz="1200" b="1" dirty="0" err="1">
                <a:latin typeface="Arial Black" panose="020B0A04020102020204" pitchFamily="34" charset="0"/>
              </a:rPr>
              <a:t>plt.title</a:t>
            </a:r>
            <a:r>
              <a:rPr sz="1200" b="1" dirty="0">
                <a:latin typeface="Arial Black" panose="020B0A04020102020204" pitchFamily="34" charset="0"/>
              </a:rPr>
              <a:t>("Glucose vs Diabetes Outcome")</a:t>
            </a:r>
            <a:br>
              <a:rPr sz="1200" b="1" dirty="0">
                <a:latin typeface="Arial Black" panose="020B0A04020102020204" pitchFamily="34" charset="0"/>
              </a:rPr>
            </a:br>
            <a:r>
              <a:rPr sz="1200" b="1" dirty="0" err="1">
                <a:latin typeface="Arial Black" panose="020B0A04020102020204" pitchFamily="34" charset="0"/>
              </a:rPr>
              <a:t>plt.show</a:t>
            </a:r>
            <a:r>
              <a:rPr sz="1200" b="1" dirty="0">
                <a:latin typeface="Arial Black" panose="020B0A04020102020204" pitchFamily="34" charset="0"/>
              </a:rPr>
              <a:t>()</a:t>
            </a:r>
            <a:br>
              <a:rPr sz="1200" b="1" dirty="0">
                <a:latin typeface="Arial Black" panose="020B0A04020102020204" pitchFamily="34" charset="0"/>
              </a:rPr>
            </a:br>
            <a:br>
              <a:rPr sz="1200" b="1" dirty="0">
                <a:latin typeface="Arial Black" panose="020B0A04020102020204" pitchFamily="34" charset="0"/>
              </a:rPr>
            </a:br>
            <a:r>
              <a:rPr sz="1200" b="1" dirty="0" err="1">
                <a:latin typeface="Arial Black" panose="020B0A04020102020204" pitchFamily="34" charset="0"/>
              </a:rPr>
              <a:t>plt.figure</a:t>
            </a:r>
            <a:r>
              <a:rPr sz="1200" b="1" dirty="0">
                <a:latin typeface="Arial Black" panose="020B0A04020102020204" pitchFamily="34" charset="0"/>
              </a:rPr>
              <a:t>(</a:t>
            </a:r>
            <a:r>
              <a:rPr sz="1200" b="1" dirty="0" err="1">
                <a:latin typeface="Arial Black" panose="020B0A04020102020204" pitchFamily="34" charset="0"/>
              </a:rPr>
              <a:t>figsize</a:t>
            </a:r>
            <a:r>
              <a:rPr sz="1200" b="1" dirty="0">
                <a:latin typeface="Arial Black" panose="020B0A04020102020204" pitchFamily="34" charset="0"/>
              </a:rPr>
              <a:t>=(8, 6))</a:t>
            </a:r>
            <a:br>
              <a:rPr sz="1200" b="1" dirty="0">
                <a:latin typeface="Arial Black" panose="020B0A04020102020204" pitchFamily="34" charset="0"/>
              </a:rPr>
            </a:br>
            <a:r>
              <a:rPr sz="1200" b="1" dirty="0" err="1">
                <a:latin typeface="Arial Black" panose="020B0A04020102020204" pitchFamily="34" charset="0"/>
              </a:rPr>
              <a:t>sns.boxplot</a:t>
            </a:r>
            <a:r>
              <a:rPr sz="1200" b="1" dirty="0">
                <a:latin typeface="Arial Black" panose="020B0A04020102020204" pitchFamily="34" charset="0"/>
              </a:rPr>
              <a:t>(data=</a:t>
            </a:r>
            <a:r>
              <a:rPr sz="1200" b="1" dirty="0" err="1">
                <a:latin typeface="Arial Black" panose="020B0A04020102020204" pitchFamily="34" charset="0"/>
              </a:rPr>
              <a:t>df</a:t>
            </a:r>
            <a:r>
              <a:rPr sz="1200" b="1" dirty="0">
                <a:latin typeface="Arial Black" panose="020B0A04020102020204" pitchFamily="34" charset="0"/>
              </a:rPr>
              <a:t>, x="Outcome", y="BMI")</a:t>
            </a:r>
            <a:br>
              <a:rPr sz="1200" b="1" dirty="0">
                <a:latin typeface="Arial Black" panose="020B0A04020102020204" pitchFamily="34" charset="0"/>
              </a:rPr>
            </a:br>
            <a:r>
              <a:rPr sz="1200" b="1" dirty="0" err="1">
                <a:latin typeface="Arial Black" panose="020B0A04020102020204" pitchFamily="34" charset="0"/>
              </a:rPr>
              <a:t>plt.title</a:t>
            </a:r>
            <a:r>
              <a:rPr sz="1200" b="1" dirty="0">
                <a:latin typeface="Arial Black" panose="020B0A04020102020204" pitchFamily="34" charset="0"/>
              </a:rPr>
              <a:t>("BMI vs Diabetes Outcome")</a:t>
            </a:r>
            <a:br>
              <a:rPr sz="1200" b="1" dirty="0">
                <a:latin typeface="Arial Black" panose="020B0A04020102020204" pitchFamily="34" charset="0"/>
              </a:rPr>
            </a:br>
            <a:r>
              <a:rPr sz="1200" b="1" dirty="0" err="1">
                <a:latin typeface="Arial Black" panose="020B0A04020102020204" pitchFamily="34" charset="0"/>
              </a:rPr>
              <a:t>plt.show</a:t>
            </a:r>
            <a:r>
              <a:rPr sz="1200" b="1" dirty="0">
                <a:latin typeface="Arial Black" panose="020B0A04020102020204" pitchFamily="34" charset="0"/>
              </a:rPr>
              <a:t>()</a:t>
            </a:r>
            <a:br>
              <a:rPr sz="1200" b="1" dirty="0">
                <a:latin typeface="Arial Black" panose="020B0A04020102020204" pitchFamily="34" charset="0"/>
              </a:rPr>
            </a:br>
            <a:br>
              <a:rPr sz="1200" b="1" dirty="0">
                <a:latin typeface="Arial Black" panose="020B0A04020102020204" pitchFamily="34" charset="0"/>
              </a:rPr>
            </a:br>
            <a:r>
              <a:rPr sz="1200" b="1" dirty="0" err="1">
                <a:latin typeface="Arial Black" panose="020B0A04020102020204" pitchFamily="34" charset="0"/>
              </a:rPr>
              <a:t>plt.figure</a:t>
            </a:r>
            <a:r>
              <a:rPr sz="1200" b="1" dirty="0">
                <a:latin typeface="Arial Black" panose="020B0A04020102020204" pitchFamily="34" charset="0"/>
              </a:rPr>
              <a:t>(</a:t>
            </a:r>
            <a:r>
              <a:rPr sz="1200" b="1" dirty="0" err="1">
                <a:latin typeface="Arial Black" panose="020B0A04020102020204" pitchFamily="34" charset="0"/>
              </a:rPr>
              <a:t>figsize</a:t>
            </a:r>
            <a:r>
              <a:rPr sz="1200" b="1" dirty="0">
                <a:latin typeface="Arial Black" panose="020B0A04020102020204" pitchFamily="34" charset="0"/>
              </a:rPr>
              <a:t>=(8, 6))</a:t>
            </a:r>
            <a:br>
              <a:rPr sz="1200" b="1" dirty="0">
                <a:latin typeface="Arial Black" panose="020B0A04020102020204" pitchFamily="34" charset="0"/>
              </a:rPr>
            </a:br>
            <a:r>
              <a:rPr sz="1200" b="1" dirty="0" err="1">
                <a:latin typeface="Arial Black" panose="020B0A04020102020204" pitchFamily="34" charset="0"/>
              </a:rPr>
              <a:t>sns.boxplot</a:t>
            </a:r>
            <a:r>
              <a:rPr sz="1200" b="1" dirty="0">
                <a:latin typeface="Arial Black" panose="020B0A04020102020204" pitchFamily="34" charset="0"/>
              </a:rPr>
              <a:t>(data=</a:t>
            </a:r>
            <a:r>
              <a:rPr sz="1200" b="1" dirty="0" err="1">
                <a:latin typeface="Arial Black" panose="020B0A04020102020204" pitchFamily="34" charset="0"/>
              </a:rPr>
              <a:t>df</a:t>
            </a:r>
            <a:r>
              <a:rPr sz="1200" b="1" dirty="0">
                <a:latin typeface="Arial Black" panose="020B0A04020102020204" pitchFamily="34" charset="0"/>
              </a:rPr>
              <a:t>, x="Outcome", y="Age")</a:t>
            </a:r>
            <a:br>
              <a:rPr sz="1200" b="1" dirty="0">
                <a:latin typeface="Arial Black" panose="020B0A04020102020204" pitchFamily="34" charset="0"/>
              </a:rPr>
            </a:br>
            <a:r>
              <a:rPr sz="1200" b="1" dirty="0" err="1">
                <a:latin typeface="Arial Black" panose="020B0A04020102020204" pitchFamily="34" charset="0"/>
              </a:rPr>
              <a:t>plt.title</a:t>
            </a:r>
            <a:r>
              <a:rPr sz="1200" b="1" dirty="0">
                <a:latin typeface="Arial Black" panose="020B0A04020102020204" pitchFamily="34" charset="0"/>
              </a:rPr>
              <a:t>("Age vs Diabetes Outcome")</a:t>
            </a:r>
            <a:br>
              <a:rPr sz="1200" b="1" dirty="0">
                <a:latin typeface="Arial Black" panose="020B0A04020102020204" pitchFamily="34" charset="0"/>
              </a:rPr>
            </a:br>
            <a:r>
              <a:rPr sz="1200" b="1" dirty="0" err="1">
                <a:latin typeface="Arial Black" panose="020B0A04020102020204" pitchFamily="34" charset="0"/>
              </a:rPr>
              <a:t>plt.show</a:t>
            </a:r>
            <a:r>
              <a:rPr sz="1200" b="1" dirty="0">
                <a:latin typeface="Arial Black" panose="020B0A04020102020204" pitchFamily="34" charset="0"/>
              </a:rPr>
              <a:t>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417320"/>
            <a:ext cx="416052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b="1" dirty="0"/>
              <a:t>Box plots make differences in central tendency and spread easier to compare.</a:t>
            </a:r>
          </a:p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</a:defRPr>
            </a:pPr>
            <a:r>
              <a:rPr b="1" dirty="0"/>
              <a:t>• The supplied project examines Glucose, BMI and Age this way.</a:t>
            </a:r>
          </a:p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</a:defRPr>
            </a:pPr>
            <a:r>
              <a:rPr b="1" dirty="0"/>
              <a:t>• These plots support exploratory analysis before any predictive modeling.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Diabetes Risk Analysis  •  Project Presentation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Core Project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9264" y="1440180"/>
            <a:ext cx="10643616" cy="35086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rPr b="1" dirty="0">
                <a:latin typeface="Arial Black" panose="020B0A04020102020204" pitchFamily="34" charset="0"/>
              </a:rPr>
              <a:t>import </a:t>
            </a:r>
            <a:r>
              <a:rPr b="1" dirty="0" err="1">
                <a:latin typeface="Arial Black" panose="020B0A04020102020204" pitchFamily="34" charset="0"/>
              </a:rPr>
              <a:t>numpy</a:t>
            </a:r>
            <a:r>
              <a:rPr b="1" dirty="0">
                <a:latin typeface="Arial Black" panose="020B0A04020102020204" pitchFamily="34" charset="0"/>
              </a:rPr>
              <a:t> as np</a:t>
            </a: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import pandas as pd</a:t>
            </a: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import </a:t>
            </a:r>
            <a:r>
              <a:rPr b="1" dirty="0" err="1">
                <a:latin typeface="Arial Black" panose="020B0A04020102020204" pitchFamily="34" charset="0"/>
              </a:rPr>
              <a:t>matplotlib.pyplot</a:t>
            </a:r>
            <a:r>
              <a:rPr b="1" dirty="0">
                <a:latin typeface="Arial Black" panose="020B0A04020102020204" pitchFamily="34" charset="0"/>
              </a:rPr>
              <a:t> as </a:t>
            </a:r>
            <a:r>
              <a:rPr b="1" dirty="0" err="1">
                <a:latin typeface="Arial Black" panose="020B0A04020102020204" pitchFamily="34" charset="0"/>
              </a:rPr>
              <a:t>plt</a:t>
            </a: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import seaborn as </a:t>
            </a:r>
            <a:r>
              <a:rPr b="1" dirty="0" err="1">
                <a:latin typeface="Arial Black" panose="020B0A04020102020204" pitchFamily="34" charset="0"/>
              </a:rPr>
              <a:t>sns</a:t>
            </a: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import </a:t>
            </a:r>
            <a:r>
              <a:rPr b="1" dirty="0" err="1">
                <a:latin typeface="Arial Black" panose="020B0A04020102020204" pitchFamily="34" charset="0"/>
              </a:rPr>
              <a:t>joblib</a:t>
            </a:r>
            <a:br>
              <a:rPr b="1" dirty="0">
                <a:latin typeface="Arial Black" panose="020B0A04020102020204" pitchFamily="34" charset="0"/>
              </a:rPr>
            </a:b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from </a:t>
            </a:r>
            <a:r>
              <a:rPr b="1" dirty="0" err="1">
                <a:latin typeface="Arial Black" panose="020B0A04020102020204" pitchFamily="34" charset="0"/>
              </a:rPr>
              <a:t>sklearn.model_selection</a:t>
            </a:r>
            <a:r>
              <a:rPr b="1" dirty="0">
                <a:latin typeface="Arial Black" panose="020B0A04020102020204" pitchFamily="34" charset="0"/>
              </a:rPr>
              <a:t> import </a:t>
            </a:r>
            <a:r>
              <a:rPr b="1" dirty="0" err="1">
                <a:latin typeface="Arial Black" panose="020B0A04020102020204" pitchFamily="34" charset="0"/>
              </a:rPr>
              <a:t>train_test_split</a:t>
            </a: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from </a:t>
            </a:r>
            <a:r>
              <a:rPr b="1" dirty="0" err="1">
                <a:latin typeface="Arial Black" panose="020B0A04020102020204" pitchFamily="34" charset="0"/>
              </a:rPr>
              <a:t>sklearn.preprocessing</a:t>
            </a:r>
            <a:r>
              <a:rPr b="1" dirty="0">
                <a:latin typeface="Arial Black" panose="020B0A04020102020204" pitchFamily="34" charset="0"/>
              </a:rPr>
              <a:t> import </a:t>
            </a:r>
            <a:r>
              <a:rPr b="1" dirty="0" err="1">
                <a:latin typeface="Arial Black" panose="020B0A04020102020204" pitchFamily="34" charset="0"/>
              </a:rPr>
              <a:t>StandardScaler</a:t>
            </a:r>
            <a:br>
              <a:rPr b="1" dirty="0">
                <a:latin typeface="Arial Black" panose="020B0A04020102020204" pitchFamily="34" charset="0"/>
              </a:rPr>
            </a:b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from </a:t>
            </a:r>
            <a:r>
              <a:rPr b="1" dirty="0" err="1">
                <a:latin typeface="Arial Black" panose="020B0A04020102020204" pitchFamily="34" charset="0"/>
              </a:rPr>
              <a:t>sklearn.linear_model</a:t>
            </a:r>
            <a:r>
              <a:rPr b="1" dirty="0">
                <a:latin typeface="Arial Black" panose="020B0A04020102020204" pitchFamily="34" charset="0"/>
              </a:rPr>
              <a:t> import </a:t>
            </a:r>
            <a:r>
              <a:rPr b="1" dirty="0" err="1">
                <a:latin typeface="Arial Black" panose="020B0A04020102020204" pitchFamily="34" charset="0"/>
              </a:rPr>
              <a:t>LogisticRegression</a:t>
            </a: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from </a:t>
            </a:r>
            <a:r>
              <a:rPr b="1" dirty="0" err="1">
                <a:latin typeface="Arial Black" panose="020B0A04020102020204" pitchFamily="34" charset="0"/>
              </a:rPr>
              <a:t>sklearn.tree</a:t>
            </a:r>
            <a:r>
              <a:rPr b="1" dirty="0">
                <a:latin typeface="Arial Black" panose="020B0A04020102020204" pitchFamily="34" charset="0"/>
              </a:rPr>
              <a:t> import </a:t>
            </a:r>
            <a:r>
              <a:rPr b="1" dirty="0" err="1">
                <a:latin typeface="Arial Black" panose="020B0A04020102020204" pitchFamily="34" charset="0"/>
              </a:rPr>
              <a:t>DecisionTreeClassifier</a:t>
            </a: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from </a:t>
            </a:r>
            <a:r>
              <a:rPr b="1" dirty="0" err="1">
                <a:latin typeface="Arial Black" panose="020B0A04020102020204" pitchFamily="34" charset="0"/>
              </a:rPr>
              <a:t>sklearn.ensemble</a:t>
            </a:r>
            <a:r>
              <a:rPr b="1" dirty="0">
                <a:latin typeface="Arial Black" panose="020B0A04020102020204" pitchFamily="34" charset="0"/>
              </a:rPr>
              <a:t> import </a:t>
            </a:r>
            <a:r>
              <a:rPr b="1" dirty="0" err="1">
                <a:latin typeface="Arial Black" panose="020B0A04020102020204" pitchFamily="34" charset="0"/>
              </a:rPr>
              <a:t>RandomForestClassifier</a:t>
            </a: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from </a:t>
            </a:r>
            <a:r>
              <a:rPr b="1" dirty="0" err="1">
                <a:latin typeface="Arial Black" panose="020B0A04020102020204" pitchFamily="34" charset="0"/>
              </a:rPr>
              <a:t>sklearn.neighbors</a:t>
            </a:r>
            <a:r>
              <a:rPr b="1" dirty="0">
                <a:latin typeface="Arial Black" panose="020B0A04020102020204" pitchFamily="34" charset="0"/>
              </a:rPr>
              <a:t> import </a:t>
            </a:r>
            <a:r>
              <a:rPr b="1" dirty="0" err="1">
                <a:latin typeface="Arial Black" panose="020B0A04020102020204" pitchFamily="34" charset="0"/>
              </a:rPr>
              <a:t>KNeighborsClassifier</a:t>
            </a: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from </a:t>
            </a:r>
            <a:r>
              <a:rPr b="1" dirty="0" err="1">
                <a:latin typeface="Arial Black" panose="020B0A04020102020204" pitchFamily="34" charset="0"/>
              </a:rPr>
              <a:t>sklearn.svm</a:t>
            </a:r>
            <a:r>
              <a:rPr b="1" dirty="0">
                <a:latin typeface="Arial Black" panose="020B0A04020102020204" pitchFamily="34" charset="0"/>
              </a:rPr>
              <a:t> import SVC</a:t>
            </a:r>
            <a:br>
              <a:rPr b="1" dirty="0">
                <a:latin typeface="Arial Black" panose="020B0A04020102020204" pitchFamily="34" charset="0"/>
              </a:rPr>
            </a:b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from </a:t>
            </a:r>
            <a:r>
              <a:rPr b="1" dirty="0" err="1">
                <a:latin typeface="Arial Black" panose="020B0A04020102020204" pitchFamily="34" charset="0"/>
              </a:rPr>
              <a:t>sklearn.metrics</a:t>
            </a:r>
            <a:r>
              <a:rPr b="1" dirty="0">
                <a:latin typeface="Arial Black" panose="020B0A04020102020204" pitchFamily="34" charset="0"/>
              </a:rPr>
              <a:t> import (</a:t>
            </a:r>
            <a:r>
              <a:rPr b="1" dirty="0" err="1">
                <a:latin typeface="Arial Black" panose="020B0A04020102020204" pitchFamily="34" charset="0"/>
              </a:rPr>
              <a:t>accuracy_score</a:t>
            </a:r>
            <a:r>
              <a:rPr b="1" dirty="0">
                <a:latin typeface="Arial Black" panose="020B0A04020102020204" pitchFamily="34" charset="0"/>
              </a:rPr>
              <a:t>, </a:t>
            </a:r>
            <a:r>
              <a:rPr b="1" dirty="0" err="1">
                <a:latin typeface="Arial Black" panose="020B0A04020102020204" pitchFamily="34" charset="0"/>
              </a:rPr>
              <a:t>precision_score,recall_score</a:t>
            </a:r>
            <a:r>
              <a:rPr b="1" dirty="0">
                <a:latin typeface="Arial Black" panose="020B0A04020102020204" pitchFamily="34" charset="0"/>
              </a:rPr>
              <a:t>, f1_score,confusion_matrix, </a:t>
            </a:r>
            <a:r>
              <a:rPr b="1" dirty="0" err="1">
                <a:latin typeface="Arial Black" panose="020B0A04020102020204" pitchFamily="34" charset="0"/>
              </a:rPr>
              <a:t>classification_report</a:t>
            </a:r>
            <a:r>
              <a:rPr b="1" dirty="0">
                <a:latin typeface="Arial Black" panose="020B0A04020102020204" pitchFamily="34" charset="0"/>
              </a:rPr>
              <a:t>,</a:t>
            </a:r>
            <a:br>
              <a:rPr b="1" dirty="0">
                <a:latin typeface="Arial Black" panose="020B0A04020102020204" pitchFamily="34" charset="0"/>
              </a:rPr>
            </a:br>
            <a:r>
              <a:rPr b="1" dirty="0">
                <a:latin typeface="Arial Black" panose="020B0A04020102020204" pitchFamily="34" charset="0"/>
              </a:rPr>
              <a:t>    </a:t>
            </a:r>
            <a:r>
              <a:rPr b="1" dirty="0" err="1">
                <a:latin typeface="Arial Black" panose="020B0A04020102020204" pitchFamily="34" charset="0"/>
              </a:rPr>
              <a:t>roc_curve</a:t>
            </a:r>
            <a:r>
              <a:rPr b="1" dirty="0">
                <a:latin typeface="Arial Black" panose="020B0A04020102020204" pitchFamily="34" charset="0"/>
              </a:rPr>
              <a:t>, </a:t>
            </a:r>
            <a:r>
              <a:rPr b="1" dirty="0" err="1">
                <a:latin typeface="Arial Black" panose="020B0A04020102020204" pitchFamily="34" charset="0"/>
              </a:rPr>
              <a:t>roc_auc_score</a:t>
            </a:r>
            <a:r>
              <a:rPr b="1" dirty="0">
                <a:latin typeface="Arial Black" panose="020B0A04020102020204" pitchFamily="34" charset="0"/>
              </a:rPr>
              <a:t>)</a:t>
            </a:r>
            <a:br>
              <a:rPr b="1" dirty="0">
                <a:latin typeface="Arial Black" panose="020B0A04020102020204" pitchFamily="34" charset="0"/>
              </a:rPr>
            </a:br>
            <a:br>
              <a:rPr b="1" dirty="0">
                <a:latin typeface="Arial Black" panose="020B0A04020102020204" pitchFamily="34" charset="0"/>
              </a:rPr>
            </a:br>
            <a:r>
              <a:rPr b="1" dirty="0" err="1">
                <a:latin typeface="Arial Black" panose="020B0A04020102020204" pitchFamily="34" charset="0"/>
              </a:rPr>
              <a:t>df</a:t>
            </a:r>
            <a:r>
              <a:rPr b="1" dirty="0">
                <a:latin typeface="Arial Black" panose="020B0A04020102020204" pitchFamily="34" charset="0"/>
              </a:rPr>
              <a:t> = </a:t>
            </a:r>
            <a:r>
              <a:rPr b="1" dirty="0" err="1">
                <a:latin typeface="Arial Black" panose="020B0A04020102020204" pitchFamily="34" charset="0"/>
              </a:rPr>
              <a:t>pd.read_csv</a:t>
            </a:r>
            <a:r>
              <a:rPr b="1" dirty="0">
                <a:latin typeface="Arial Black" panose="020B0A04020102020204" pitchFamily="34" charset="0"/>
              </a:rPr>
              <a:t>("diabetes.csv")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Diabetes Risk Analysis  •  Project Presentation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Project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828800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69748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Load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280160" y="2002536"/>
            <a:ext cx="1051560" cy="27432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496312" y="1828800"/>
            <a:ext cx="658368" cy="6583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269748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Inspect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82112" y="2002536"/>
            <a:ext cx="1051560" cy="27432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398264" y="1828800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6784" y="269748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Clean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84064" y="2002536"/>
            <a:ext cx="1051560" cy="27432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00216" y="1828800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269748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Explore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86016" y="2002536"/>
            <a:ext cx="1051560" cy="27432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02168" y="1828800"/>
            <a:ext cx="658368" cy="6583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269748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Visualize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87968" y="2002536"/>
            <a:ext cx="1051560" cy="27432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104120" y="1828800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69748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Interpret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86200"/>
            <a:ext cx="1024128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b="1" dirty="0"/>
              <a:t>The notebook clearly implements data loading, quality checks, cleaning and exploratory visualization.</a:t>
            </a:r>
          </a:p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</a:defRPr>
            </a:pPr>
            <a:r>
              <a:rPr b="1" dirty="0"/>
              <a:t>• It imports several machine-learning libraries, but the supplied code cell ends after exploratory plots.</a:t>
            </a:r>
          </a:p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</a:defRPr>
            </a:pPr>
            <a:r>
              <a:rPr b="1" dirty="0"/>
              <a:t>• Therefore, this presentation does not claim model-training or accuracy results that are not present in the source notebook.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Diabetes Risk Analysis  •  Project Presentation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Key Findings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2608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b="1" dirty="0"/>
              <a:t>The dataset contains 768 patient records and 8 input features plus the Outcome target.</a:t>
            </a:r>
          </a:p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• The target contains 500 non-diabetic and 268 diabetic records.</a:t>
            </a:r>
          </a:p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• No missing values or duplicates were found initially.</a:t>
            </a:r>
          </a:p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• Zero values in selected physiological fields were treated as invalid and imputed with medians.</a:t>
            </a:r>
          </a:p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• The project provides a solid exploratory-data-analysis stage for a diabetes risk prediction pipeline.</a:t>
            </a:r>
          </a:p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• Next step, if required: train and evaluate the imported classification models using a train/test split and suitable metrics.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Diabetes Risk Analysis  •  Project Presentation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88934" y="2567226"/>
            <a:ext cx="306493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 sz="5000" dirty="0"/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Diabetes Risk Analysis  •  Project Presentation  •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41</TotalTime>
  <Words>1080</Words>
  <Application>Microsoft Office PowerPoint</Application>
  <PresentationFormat>Widescreen</PresentationFormat>
  <Paragraphs>113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Tahezeeb Md Jaweed Peerji</cp:lastModifiedBy>
  <cp:revision>2</cp:revision>
  <dcterms:created xsi:type="dcterms:W3CDTF">2013-01-27T09:14:16Z</dcterms:created>
  <dcterms:modified xsi:type="dcterms:W3CDTF">2026-08-23T16:06:46Z</dcterms:modified>
  <cp:category/>
</cp:coreProperties>
</file>